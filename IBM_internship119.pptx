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26"/>
  </p:notesMasterIdLst>
  <p:sldIdLst>
    <p:sldId id="290" r:id="rId2"/>
    <p:sldId id="291" r:id="rId3"/>
    <p:sldId id="292" r:id="rId4"/>
    <p:sldId id="293" r:id="rId5"/>
    <p:sldId id="294" r:id="rId6"/>
    <p:sldId id="295" r:id="rId7"/>
    <p:sldId id="296" r:id="rId8"/>
    <p:sldId id="297" r:id="rId9"/>
    <p:sldId id="298" r:id="rId10"/>
    <p:sldId id="299" r:id="rId11"/>
    <p:sldId id="300" r:id="rId12"/>
    <p:sldId id="301" r:id="rId13"/>
    <p:sldId id="302" r:id="rId14"/>
    <p:sldId id="303" r:id="rId15"/>
    <p:sldId id="310" r:id="rId16"/>
    <p:sldId id="311" r:id="rId17"/>
    <p:sldId id="312" r:id="rId18"/>
    <p:sldId id="313" r:id="rId19"/>
    <p:sldId id="304" r:id="rId20"/>
    <p:sldId id="305" r:id="rId21"/>
    <p:sldId id="306" r:id="rId22"/>
    <p:sldId id="307" r:id="rId23"/>
    <p:sldId id="308" r:id="rId24"/>
    <p:sldId id="309" r:id="rId2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AAD8F4D-43EB-41E5-8A38-28AB6DFB1B60}"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https://github.com/smmohan07/my-ibm-bob-project.git"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panose="020F0502020204030204"/>
              <a:buNone/>
            </a:pPr>
            <a:endParaRPr sz="15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panose="02020603050405020304"/>
              <a:buNone/>
            </a:pPr>
            <a:endParaRPr sz="3200" b="1"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96" name="Google Shape;96;p2"/>
          <p:cNvGraphicFramePr/>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1"/>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Email ID </a:t>
                      </a:r>
                      <a:endParaRPr sz="1800" b="0" i="0" u="none" strike="noStrike" cap="none">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panose="020F050202020403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Mobile number</a:t>
                      </a:r>
                      <a:endParaRPr sz="1800" b="0" i="0" u="none" strike="noStrike" cap="none">
                        <a:solidFill>
                          <a:srgbClr val="000000"/>
                        </a:solidFill>
                        <a:latin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chemeClr val="lt1"/>
                        </a:buClr>
                        <a:buSzPts val="1800"/>
                        <a:buFont typeface="Calibri" panose="020F050202020403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[WhatsApp] </a:t>
                      </a:r>
                      <a:endParaRPr sz="1800" b="0" i="0" u="none" strike="noStrike" cap="none">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sz="2000" b="0"/>
                        <a:t>S M Mohan Kumar</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2000"/>
                        <a:t>smmohan569@gmail.com</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2000"/>
                        <a:t>8867584723</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p:cNvSpPr txBox="1"/>
          <p:nvPr/>
        </p:nvSpPr>
        <p:spPr>
          <a:xfrm>
            <a:off x="1206164" y="1460724"/>
            <a:ext cx="10280254" cy="460375"/>
          </a:xfrm>
          <a:prstGeom prst="rect">
            <a:avLst/>
          </a:prstGeom>
          <a:noFill/>
        </p:spPr>
        <p:txBody>
          <a:bodyPr wrap="square" rtlCol="0">
            <a:spAutoFit/>
          </a:bodyPr>
          <a:lstStyle/>
          <a:p>
            <a:r>
              <a:rPr lang="en-US" sz="2400" b="1" dirty="0"/>
              <a:t>Domain of  Project – </a:t>
            </a:r>
            <a:r>
              <a:rPr lang="en-US" sz="2400" b="1" dirty="0">
                <a:highlight>
                  <a:srgbClr val="FFFF00"/>
                </a:highlight>
              </a:rPr>
              <a:t>[ </a:t>
            </a:r>
            <a:r>
              <a:rPr lang="en-IN" sz="2400" b="1" dirty="0">
                <a:highlight>
                  <a:srgbClr val="FFFF00"/>
                </a:highlight>
              </a:rPr>
              <a:t>Research &amp; Knowledge Management</a:t>
            </a:r>
            <a:r>
              <a:rPr lang="en-US" sz="2400" b="1" dirty="0">
                <a:highlight>
                  <a:srgbClr val="FFFF00"/>
                </a:highlight>
              </a:rPr>
              <a:t> ]</a:t>
            </a:r>
            <a:endParaRPr lang="en-IN" sz="2400" b="1" dirty="0">
              <a:highlight>
                <a:srgbClr val="FFFF00"/>
              </a:highlight>
            </a:endParaRPr>
          </a:p>
        </p:txBody>
      </p:sp>
      <p:sp>
        <p:nvSpPr>
          <p:cNvPr id="7" name="TextBox 6"/>
          <p:cNvSpPr txBox="1"/>
          <p:nvPr/>
        </p:nvSpPr>
        <p:spPr>
          <a:xfrm>
            <a:off x="1206162" y="551965"/>
            <a:ext cx="9581177" cy="460375"/>
          </a:xfrm>
          <a:prstGeom prst="rect">
            <a:avLst/>
          </a:prstGeom>
          <a:noFill/>
        </p:spPr>
        <p:txBody>
          <a:bodyPr wrap="square" rtlCol="0">
            <a:spAutoFit/>
          </a:bodyPr>
          <a:lstStyle/>
          <a:p>
            <a:r>
              <a:rPr lang="en-US" sz="2400" b="1" dirty="0"/>
              <a:t>Project Tile – </a:t>
            </a:r>
            <a:r>
              <a:rPr lang="en-US" sz="2400" b="1" dirty="0">
                <a:highlight>
                  <a:srgbClr val="FFFF00"/>
                </a:highlight>
              </a:rPr>
              <a:t>[ Research Agent ]</a:t>
            </a:r>
            <a:endParaRPr lang="en-IN" sz="2400" b="1" dirty="0">
              <a:highlight>
                <a:srgbClr val="FFFF00"/>
              </a:highlight>
            </a:endParaRPr>
          </a:p>
        </p:txBody>
      </p:sp>
      <p:pic>
        <p:nvPicPr>
          <p:cNvPr id="3" name="Picture 2"/>
          <p:cNvPicPr>
            <a:picLocks noChangeAspect="1"/>
          </p:cNvPicPr>
          <p:nvPr/>
        </p:nvPicPr>
        <p:blipFill>
          <a:blip r:embed="rId3"/>
          <a:stretch>
            <a:fillRect/>
          </a:stretch>
        </p:blipFill>
        <p:spPr>
          <a:xfrm>
            <a:off x="4072890" y="3626485"/>
            <a:ext cx="1002030" cy="114109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576072" y="1234440"/>
            <a:ext cx="10607040" cy="5016758"/>
          </a:xfrm>
          <a:prstGeom prst="rect">
            <a:avLst/>
          </a:prstGeom>
          <a:noFill/>
        </p:spPr>
        <p:txBody>
          <a:bodyPr wrap="square" rtlCol="0">
            <a:spAutoFit/>
          </a:bodyPr>
          <a:lstStyle/>
          <a:p>
            <a:r>
              <a:rPr lang="en-IN" sz="1600" b="1" dirty="0"/>
              <a:t>The Challenge</a:t>
            </a:r>
          </a:p>
          <a:p>
            <a:r>
              <a:rPr lang="en-IN" sz="1600" dirty="0"/>
              <a:t>Researchers struggle to find reliable papers, understand large amounts of research information, and identify gaps in existing studies. Information is scattered across journals, websites, and documents. Without intelligent assistance, reviewing literature and organizing findings can be time-consuming and difficult.</a:t>
            </a:r>
          </a:p>
          <a:p>
            <a:endParaRPr lang="en-IN" sz="1600" dirty="0"/>
          </a:p>
          <a:p>
            <a:r>
              <a:rPr lang="en-IN" sz="1600" b="1" dirty="0"/>
              <a:t>The Objective</a:t>
            </a:r>
          </a:p>
          <a:p>
            <a:r>
              <a:rPr lang="en-IN" sz="1600" dirty="0"/>
              <a:t>Build an </a:t>
            </a:r>
            <a:r>
              <a:rPr lang="en-IN" sz="1600" b="1" dirty="0"/>
              <a:t>AI-powered Research Agent</a:t>
            </a:r>
            <a:r>
              <a:rPr lang="en-IN" sz="1600" dirty="0"/>
              <a:t> that assists researchers throughout the research process. The solution should:</a:t>
            </a:r>
          </a:p>
          <a:p>
            <a:r>
              <a:rPr lang="en-IN" sz="1600" b="1" dirty="0"/>
              <a:t>Research Discovery</a:t>
            </a:r>
            <a:r>
              <a:rPr lang="en-IN" sz="1600" dirty="0"/>
              <a:t> – Find relevant research papers, articles, and academic resources based on the research topic.</a:t>
            </a:r>
          </a:p>
          <a:p>
            <a:r>
              <a:rPr lang="en-IN" sz="1600" b="1" dirty="0"/>
              <a:t>RAG Retrieval</a:t>
            </a:r>
            <a:r>
              <a:rPr lang="en-IN" sz="1600" dirty="0"/>
              <a:t> – Retrieve reliable information from research papers, journals, and trusted academic sources.</a:t>
            </a:r>
          </a:p>
          <a:p>
            <a:r>
              <a:rPr lang="en-IN" sz="1600" b="1" dirty="0"/>
              <a:t>Literature Analysis</a:t>
            </a:r>
            <a:r>
              <a:rPr lang="en-IN" sz="1600" dirty="0"/>
              <a:t> – Summarize papers, compare findings, and identify important research trends.</a:t>
            </a:r>
          </a:p>
          <a:p>
            <a:r>
              <a:rPr lang="en-IN" sz="1600" b="1" dirty="0"/>
              <a:t>Research Guidance</a:t>
            </a:r>
            <a:r>
              <a:rPr lang="en-IN" sz="1600" dirty="0"/>
              <a:t> – Suggest research directions, methodologies, and potential research gaps.</a:t>
            </a:r>
          </a:p>
          <a:p>
            <a:r>
              <a:rPr lang="en-IN" sz="1600" b="1" dirty="0"/>
              <a:t>Multi-Agent System</a:t>
            </a:r>
            <a:r>
              <a:rPr lang="en-IN" sz="1600" dirty="0"/>
              <a:t> –</a:t>
            </a:r>
            <a:br>
              <a:rPr lang="en-IN" sz="1600" dirty="0"/>
            </a:br>
            <a:r>
              <a:rPr lang="en-IN" sz="1600" b="1" dirty="0"/>
              <a:t>Search Agent</a:t>
            </a:r>
            <a:r>
              <a:rPr lang="en-IN" sz="1600" dirty="0"/>
              <a:t> (finds relevant research papers)</a:t>
            </a:r>
            <a:br>
              <a:rPr lang="en-IN" sz="1600" dirty="0"/>
            </a:br>
            <a:r>
              <a:rPr lang="en-IN" sz="1600" b="1" dirty="0"/>
              <a:t>Analysis Agent</a:t>
            </a:r>
            <a:r>
              <a:rPr lang="en-IN" sz="1600" dirty="0"/>
              <a:t> (</a:t>
            </a:r>
            <a:r>
              <a:rPr lang="en-IN" sz="1600" dirty="0" err="1"/>
              <a:t>analyzes</a:t>
            </a:r>
            <a:r>
              <a:rPr lang="en-IN" sz="1600" dirty="0"/>
              <a:t> and summarizes papers)</a:t>
            </a:r>
            <a:br>
              <a:rPr lang="en-IN" sz="1600" dirty="0"/>
            </a:br>
            <a:r>
              <a:rPr lang="en-IN" sz="1600" b="1" dirty="0"/>
              <a:t>Gap Agent</a:t>
            </a:r>
            <a:r>
              <a:rPr lang="en-IN" sz="1600" dirty="0"/>
              <a:t> (identifies research gaps)</a:t>
            </a:r>
            <a:br>
              <a:rPr lang="en-IN" sz="1600" dirty="0"/>
            </a:br>
            <a:r>
              <a:rPr lang="en-IN" sz="1600" b="1" dirty="0"/>
              <a:t>Writing Agent</a:t>
            </a:r>
            <a:r>
              <a:rPr lang="en-IN" sz="1600" dirty="0"/>
              <a:t> (assists with research content and references)</a:t>
            </a:r>
          </a:p>
          <a:p>
            <a:r>
              <a:rPr lang="en-IN" sz="1600" b="1" dirty="0"/>
              <a:t>Dashboard</a:t>
            </a:r>
            <a:r>
              <a:rPr lang="en-IN" sz="1600" dirty="0"/>
              <a:t> – Show research papers, summaries, key findings, research gaps, references, and research progress.</a:t>
            </a:r>
          </a:p>
          <a:p>
            <a:endParaRPr lang="en-IN" sz="1600" dirty="0"/>
          </a:p>
        </p:txBody>
      </p:sp>
      <p:sp>
        <p:nvSpPr>
          <p:cNvPr id="3" name="TextBox 2"/>
          <p:cNvSpPr txBox="1"/>
          <p:nvPr/>
        </p:nvSpPr>
        <p:spPr>
          <a:xfrm>
            <a:off x="576072" y="772775"/>
            <a:ext cx="7214616" cy="523220"/>
          </a:xfrm>
          <a:prstGeom prst="rect">
            <a:avLst/>
          </a:prstGeom>
          <a:noFill/>
        </p:spPr>
        <p:txBody>
          <a:bodyPr wrap="square" rtlCol="0">
            <a:spAutoFit/>
          </a:bodyPr>
          <a:lstStyle/>
          <a:p>
            <a:r>
              <a:rPr lang="en-US" sz="2800" b="1" dirty="0"/>
              <a:t>Problem Statement -</a:t>
            </a:r>
            <a:endParaRPr lang="en-IN" sz="28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576072" y="1175202"/>
            <a:ext cx="10607040" cy="5047536"/>
          </a:xfrm>
          <a:prstGeom prst="rect">
            <a:avLst/>
          </a:prstGeom>
          <a:noFill/>
        </p:spPr>
        <p:txBody>
          <a:bodyPr wrap="square" rtlCol="0">
            <a:spAutoFit/>
          </a:bodyPr>
          <a:lstStyle/>
          <a:p>
            <a:pPr>
              <a:lnSpc>
                <a:spcPct val="150000"/>
              </a:lnSpc>
            </a:pPr>
            <a:r>
              <a:rPr lang="en-IN" dirty="0"/>
              <a:t>The proposed solution is a </a:t>
            </a:r>
            <a:r>
              <a:rPr lang="en-IN" b="1" dirty="0"/>
              <a:t>multi-agent AI-powered Research Agent</a:t>
            </a:r>
            <a:r>
              <a:rPr lang="en-IN" dirty="0"/>
              <a:t> built using </a:t>
            </a:r>
            <a:r>
              <a:rPr lang="en-IN" b="1" dirty="0"/>
              <a:t>IBM Bob, IBM watsonx.ai, and Granite Models</a:t>
            </a:r>
            <a:r>
              <a:rPr lang="en-IN" dirty="0"/>
              <a:t> to assist researchers with literature review, research analysis, and discovery.</a:t>
            </a:r>
          </a:p>
          <a:p>
            <a:pPr>
              <a:lnSpc>
                <a:spcPct val="150000"/>
              </a:lnSpc>
            </a:pPr>
            <a:r>
              <a:rPr lang="en-IN" dirty="0"/>
              <a:t>The system uses </a:t>
            </a:r>
            <a:r>
              <a:rPr lang="en-IN" b="1" dirty="0"/>
              <a:t>RAG</a:t>
            </a:r>
            <a:r>
              <a:rPr lang="en-IN" dirty="0"/>
              <a:t> to retrieve reliable information from </a:t>
            </a:r>
            <a:r>
              <a:rPr lang="en-IN" b="1" dirty="0"/>
              <a:t>research papers, journals, academic publications, and trusted sources</a:t>
            </a:r>
            <a:r>
              <a:rPr lang="en-IN" dirty="0"/>
              <a:t>.</a:t>
            </a:r>
          </a:p>
          <a:p>
            <a:pPr>
              <a:lnSpc>
                <a:spcPct val="150000"/>
              </a:lnSpc>
            </a:pPr>
            <a:r>
              <a:rPr lang="en-IN" dirty="0"/>
              <a:t>The system consists of four key agents:</a:t>
            </a:r>
          </a:p>
          <a:p>
            <a:pPr>
              <a:lnSpc>
                <a:spcPct val="150000"/>
              </a:lnSpc>
            </a:pPr>
            <a:r>
              <a:rPr lang="en-IN" b="1" dirty="0"/>
              <a:t>Research Discovery Agent</a:t>
            </a:r>
            <a:r>
              <a:rPr lang="en-IN" dirty="0"/>
              <a:t> – Finds relevant research papers, articles, and academic resources based on the research topic.</a:t>
            </a:r>
          </a:p>
          <a:p>
            <a:pPr>
              <a:lnSpc>
                <a:spcPct val="150000"/>
              </a:lnSpc>
            </a:pPr>
            <a:r>
              <a:rPr lang="en-IN" b="1" dirty="0"/>
              <a:t>Literature Analysis Agent</a:t>
            </a:r>
            <a:r>
              <a:rPr lang="en-IN" dirty="0"/>
              <a:t> – Summarizes and </a:t>
            </a:r>
            <a:r>
              <a:rPr lang="en-IN" dirty="0" err="1"/>
              <a:t>analyzes</a:t>
            </a:r>
            <a:r>
              <a:rPr lang="en-IN" dirty="0"/>
              <a:t> research papers, methods, and findings.</a:t>
            </a:r>
          </a:p>
          <a:p>
            <a:pPr>
              <a:lnSpc>
                <a:spcPct val="150000"/>
              </a:lnSpc>
            </a:pPr>
            <a:r>
              <a:rPr lang="en-IN" b="1" dirty="0"/>
              <a:t>Research Gap Agent</a:t>
            </a:r>
            <a:r>
              <a:rPr lang="en-IN" dirty="0"/>
              <a:t> – Identifies gaps, limitations, and unexplored areas in existing research.</a:t>
            </a:r>
          </a:p>
          <a:p>
            <a:pPr>
              <a:lnSpc>
                <a:spcPct val="150000"/>
              </a:lnSpc>
            </a:pPr>
            <a:r>
              <a:rPr lang="en-IN" b="1" dirty="0"/>
              <a:t>Research Guidance Agent</a:t>
            </a:r>
            <a:r>
              <a:rPr lang="en-IN" dirty="0"/>
              <a:t> – Suggests research directions, methodologies, and potential topics.</a:t>
            </a:r>
          </a:p>
          <a:p>
            <a:pPr>
              <a:lnSpc>
                <a:spcPct val="150000"/>
              </a:lnSpc>
            </a:pPr>
            <a:r>
              <a:rPr lang="en-IN" dirty="0"/>
              <a:t>A </a:t>
            </a:r>
            <a:r>
              <a:rPr lang="en-IN" b="1" dirty="0"/>
              <a:t>dashboard</a:t>
            </a:r>
            <a:r>
              <a:rPr lang="en-IN" dirty="0"/>
              <a:t> displays research papers, summaries, key findings, research gaps, references, and research progress.</a:t>
            </a:r>
          </a:p>
          <a:p>
            <a:pPr>
              <a:lnSpc>
                <a:spcPct val="150000"/>
              </a:lnSpc>
            </a:pPr>
            <a:r>
              <a:rPr lang="en-IN" b="1" dirty="0"/>
              <a:t>IBM Bob</a:t>
            </a:r>
            <a:r>
              <a:rPr lang="en-IN" dirty="0"/>
              <a:t> orchestrates the agents, </a:t>
            </a:r>
            <a:r>
              <a:rPr lang="en-IN" b="1" dirty="0"/>
              <a:t>watsonx.ai</a:t>
            </a:r>
            <a:r>
              <a:rPr lang="en-IN" dirty="0"/>
              <a:t> supports AI and RAG, and </a:t>
            </a:r>
            <a:r>
              <a:rPr lang="en-IN" b="1" dirty="0"/>
              <a:t>Granite Models</a:t>
            </a:r>
            <a:r>
              <a:rPr lang="en-IN" dirty="0"/>
              <a:t> provide reasoning, analysis, and research recommendations.</a:t>
            </a:r>
          </a:p>
          <a:p>
            <a:pPr>
              <a:lnSpc>
                <a:spcPct val="150000"/>
              </a:lnSpc>
            </a:pPr>
            <a:r>
              <a:rPr lang="en-IN" dirty="0"/>
              <a:t>Overall, the solution helps researchers </a:t>
            </a:r>
            <a:r>
              <a:rPr lang="en-IN" b="1" dirty="0"/>
              <a:t>discover relevant studies, understand existing research, identify research gaps, and develop new research directions</a:t>
            </a:r>
            <a:r>
              <a:rPr lang="en-IN" dirty="0"/>
              <a:t>.</a:t>
            </a:r>
          </a:p>
          <a:p>
            <a:pPr fontAlgn="base"/>
            <a:endParaRPr lang="en-US" dirty="0"/>
          </a:p>
          <a:p>
            <a:endParaRPr lang="en-IN" dirty="0"/>
          </a:p>
        </p:txBody>
      </p:sp>
      <p:sp>
        <p:nvSpPr>
          <p:cNvPr id="3" name="TextBox 2"/>
          <p:cNvSpPr txBox="1"/>
          <p:nvPr/>
        </p:nvSpPr>
        <p:spPr>
          <a:xfrm>
            <a:off x="576072" y="635262"/>
            <a:ext cx="7214616" cy="461665"/>
          </a:xfrm>
          <a:prstGeom prst="rect">
            <a:avLst/>
          </a:prstGeom>
          <a:noFill/>
        </p:spPr>
        <p:txBody>
          <a:bodyPr wrap="square" rtlCol="0">
            <a:spAutoFit/>
          </a:bodyPr>
          <a:lstStyle/>
          <a:p>
            <a:r>
              <a:rPr lang="en-US" sz="2400" b="1" dirty="0"/>
              <a:t>Proposed Solution -</a:t>
            </a:r>
            <a:endParaRPr lang="en-IN" sz="24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TextBox 1"/>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p:cNvSpPr txBox="1"/>
          <p:nvPr/>
        </p:nvSpPr>
        <p:spPr>
          <a:xfrm>
            <a:off x="777240" y="1207008"/>
            <a:ext cx="10515600" cy="3955442"/>
          </a:xfrm>
          <a:prstGeom prst="rect">
            <a:avLst/>
          </a:prstGeom>
          <a:noFill/>
        </p:spPr>
        <p:txBody>
          <a:bodyPr wrap="square" rtlCol="0">
            <a:spAutoFit/>
          </a:bodyPr>
          <a:lstStyle/>
          <a:p>
            <a:pPr>
              <a:lnSpc>
                <a:spcPct val="200000"/>
              </a:lnSpc>
            </a:pPr>
            <a:r>
              <a:rPr lang="en-IN" sz="1600" b="1" dirty="0"/>
              <a:t>Technologies Used – Research Agent</a:t>
            </a:r>
          </a:p>
          <a:p>
            <a:pPr>
              <a:lnSpc>
                <a:spcPct val="200000"/>
              </a:lnSpc>
            </a:pPr>
            <a:r>
              <a:rPr lang="en-IN" sz="1600" b="1" dirty="0"/>
              <a:t>IBM Bob Platform</a:t>
            </a:r>
            <a:r>
              <a:rPr lang="en-IN" sz="1600" dirty="0"/>
              <a:t> – For designing and managing multi-agent research workflows.</a:t>
            </a:r>
          </a:p>
          <a:p>
            <a:pPr>
              <a:lnSpc>
                <a:spcPct val="200000"/>
              </a:lnSpc>
            </a:pPr>
            <a:r>
              <a:rPr lang="en-IN" sz="1600" b="1" dirty="0"/>
              <a:t>IBM Granite Model</a:t>
            </a:r>
            <a:r>
              <a:rPr lang="en-IN" sz="1600" dirty="0"/>
              <a:t> – For understanding queries, reasoning, summarizing, and generating research responses.</a:t>
            </a:r>
          </a:p>
          <a:p>
            <a:pPr>
              <a:lnSpc>
                <a:spcPct val="200000"/>
              </a:lnSpc>
            </a:pPr>
            <a:r>
              <a:rPr lang="en-IN" sz="1600" b="1" dirty="0"/>
              <a:t>IBM Cloud</a:t>
            </a:r>
            <a:r>
              <a:rPr lang="en-IN" sz="1600" dirty="0"/>
              <a:t> – For securely building and deploying the Research Agent.</a:t>
            </a:r>
          </a:p>
          <a:p>
            <a:pPr>
              <a:lnSpc>
                <a:spcPct val="200000"/>
              </a:lnSpc>
            </a:pPr>
            <a:r>
              <a:rPr lang="en-IN" sz="1600" b="1" dirty="0"/>
              <a:t>RAG</a:t>
            </a:r>
            <a:r>
              <a:rPr lang="en-IN" sz="1600" dirty="0"/>
              <a:t> – Retrieves reliable information from research papers, articles, and online sources before generating answers.</a:t>
            </a:r>
          </a:p>
          <a:p>
            <a:pPr>
              <a:lnSpc>
                <a:spcPct val="200000"/>
              </a:lnSpc>
            </a:pPr>
            <a:r>
              <a:rPr lang="en-IN" sz="1600" b="1" dirty="0"/>
              <a:t>IBM watsonx.ai</a:t>
            </a:r>
            <a:r>
              <a:rPr lang="en-IN" sz="1600" dirty="0"/>
              <a:t> – For AI model deployment, embeddings, and AI governance.</a:t>
            </a:r>
          </a:p>
          <a:p>
            <a:pPr>
              <a:lnSpc>
                <a:spcPct val="200000"/>
              </a:lnSpc>
            </a:pPr>
            <a:r>
              <a:rPr lang="en-IN" sz="1600" b="1" dirty="0"/>
              <a:t>Vector Database (FAISS/Chroma)</a:t>
            </a:r>
            <a:r>
              <a:rPr lang="en-IN" sz="1600" dirty="0"/>
              <a:t> – For storing and retrieving research documents efficiently using RAG.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5"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panose="02020603050405020304"/>
              <a:buNone/>
            </a:pPr>
            <a:r>
              <a:rPr lang="en-US" sz="2400" b="1">
                <a:sym typeface="Times New Roman" panose="02020603050405020304"/>
              </a:rPr>
              <a:t>Required Files created using IBM bob -</a:t>
            </a:r>
            <a:endParaRPr sz="2400" b="1">
              <a:sym typeface="Times New Roman" panose="02020603050405020304"/>
            </a:endParaRPr>
          </a:p>
        </p:txBody>
      </p:sp>
      <p:sp>
        <p:nvSpPr>
          <p:cNvPr id="148" name="Google Shape;148;p5"/>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9" name="Google Shape;149;p5"/>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0" name="Google Shape;150;p5"/>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1" name="Google Shape;151;p5"/>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2" name="Google Shape;152;p5"/>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3" name="Google Shape;153;p5"/>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Box 1"/>
          <p:cNvSpPr txBox="1"/>
          <p:nvPr/>
        </p:nvSpPr>
        <p:spPr>
          <a:xfrm>
            <a:off x="474822" y="863187"/>
            <a:ext cx="8823960" cy="5355312"/>
          </a:xfrm>
          <a:prstGeom prst="rect">
            <a:avLst/>
          </a:prstGeom>
          <a:noFill/>
        </p:spPr>
        <p:txBody>
          <a:bodyPr wrap="square" rtlCol="0">
            <a:spAutoFit/>
          </a:bodyPr>
          <a:lstStyle/>
          <a:p>
            <a:pPr marL="342900" lvl="0" indent="-342900">
              <a:lnSpc>
                <a:spcPct val="150000"/>
              </a:lnSpc>
              <a:buFont typeface="+mj-lt"/>
              <a:buAutoNum type="arabicPeriod"/>
            </a:pPr>
            <a:r>
              <a:rPr lang="en-IN" sz="1600" dirty="0"/>
              <a:t>App.py</a:t>
            </a:r>
          </a:p>
          <a:p>
            <a:pPr marL="342900" indent="-342900">
              <a:lnSpc>
                <a:spcPct val="150000"/>
              </a:lnSpc>
              <a:buFont typeface="+mj-lt"/>
              <a:buAutoNum type="arabicPeriod"/>
            </a:pPr>
            <a:endParaRPr lang="en-IN" sz="1600" dirty="0"/>
          </a:p>
          <a:p>
            <a:pPr marL="342900" lvl="0" indent="-342900">
              <a:lnSpc>
                <a:spcPct val="150000"/>
              </a:lnSpc>
              <a:buFont typeface="+mj-lt"/>
              <a:buAutoNum type="arabicPeriod"/>
            </a:pPr>
            <a:r>
              <a:rPr lang="en-IN" sz="1600" dirty="0"/>
              <a:t>Requirements.txt</a:t>
            </a:r>
          </a:p>
          <a:p>
            <a:pPr marL="342900" indent="-342900">
              <a:lnSpc>
                <a:spcPct val="150000"/>
              </a:lnSpc>
              <a:buFont typeface="+mj-lt"/>
              <a:buAutoNum type="arabicPeriod"/>
            </a:pPr>
            <a:endParaRPr lang="en-IN" sz="1600" dirty="0"/>
          </a:p>
          <a:p>
            <a:pPr marL="342900" lvl="0" indent="-342900">
              <a:lnSpc>
                <a:spcPct val="150000"/>
              </a:lnSpc>
              <a:buFont typeface="+mj-lt"/>
              <a:buAutoNum type="arabicPeriod"/>
            </a:pPr>
            <a:r>
              <a:rPr lang="en-IN" sz="1600" dirty="0"/>
              <a:t>Style.css</a:t>
            </a:r>
          </a:p>
          <a:p>
            <a:pPr marL="342900" indent="-342900">
              <a:lnSpc>
                <a:spcPct val="150000"/>
              </a:lnSpc>
              <a:buFont typeface="+mj-lt"/>
              <a:buAutoNum type="arabicPeriod"/>
            </a:pPr>
            <a:endParaRPr lang="en-IN" sz="1600" dirty="0"/>
          </a:p>
          <a:p>
            <a:pPr marL="342900" lvl="0" indent="-342900">
              <a:lnSpc>
                <a:spcPct val="150000"/>
              </a:lnSpc>
              <a:buFont typeface="+mj-lt"/>
              <a:buAutoNum type="arabicPeriod"/>
            </a:pPr>
            <a:r>
              <a:rPr lang="en-IN" sz="1600" dirty="0"/>
              <a:t>.env</a:t>
            </a:r>
          </a:p>
          <a:p>
            <a:pPr marL="342900" indent="-342900">
              <a:lnSpc>
                <a:spcPct val="150000"/>
              </a:lnSpc>
              <a:buFont typeface="+mj-lt"/>
              <a:buAutoNum type="arabicPeriod"/>
            </a:pPr>
            <a:endParaRPr lang="en-IN" sz="1600" dirty="0"/>
          </a:p>
          <a:p>
            <a:pPr marL="342900" lvl="0" indent="-342900">
              <a:lnSpc>
                <a:spcPct val="150000"/>
              </a:lnSpc>
              <a:buFont typeface="+mj-lt"/>
              <a:buAutoNum type="arabicPeriod"/>
            </a:pPr>
            <a:r>
              <a:rPr lang="en-IN" sz="1600" dirty="0"/>
              <a:t>Index.html</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5" name="Picture 4">
            <a:extLst>
              <a:ext uri="{FF2B5EF4-FFF2-40B4-BE49-F238E27FC236}">
                <a16:creationId xmlns:a16="http://schemas.microsoft.com/office/drawing/2014/main" id="{1FBAACA0-118B-D4B3-AE99-794579946E4E}"/>
              </a:ext>
            </a:extLst>
          </p:cNvPr>
          <p:cNvPicPr>
            <a:picLocks noChangeAspect="1"/>
          </p:cNvPicPr>
          <p:nvPr/>
        </p:nvPicPr>
        <p:blipFill>
          <a:blip r:embed="rId3"/>
          <a:stretch>
            <a:fillRect/>
          </a:stretch>
        </p:blipFill>
        <p:spPr>
          <a:xfrm>
            <a:off x="2893218" y="1307084"/>
            <a:ext cx="8823960" cy="468772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panose="02020603050405020304"/>
              <a:buNone/>
            </a:pPr>
            <a:r>
              <a:rPr lang="en-US" sz="3500" b="1" i="0" u="none" strike="noStrike" cap="none">
                <a:solidFill>
                  <a:srgbClr val="051D3A"/>
                </a:solidFill>
                <a:latin typeface="Times New Roman" panose="02020603050405020304"/>
                <a:ea typeface="Times New Roman" panose="02020603050405020304"/>
                <a:cs typeface="Times New Roman" panose="02020603050405020304"/>
                <a:sym typeface="Times New Roman" panose="02020603050405020304"/>
              </a:rPr>
              <a:t> </a:t>
            </a:r>
            <a:r>
              <a:rPr lang="en-US" sz="2400" b="1" i="0" u="none" strike="noStrike" cap="none">
                <a:solidFill>
                  <a:srgbClr val="051D3A"/>
                </a:solidFill>
                <a:latin typeface="Times New Roman" panose="02020603050405020304"/>
                <a:ea typeface="Times New Roman" panose="02020603050405020304"/>
                <a:cs typeface="Times New Roman" panose="02020603050405020304"/>
                <a:sym typeface="Times New Roman" panose="02020603050405020304"/>
              </a:rPr>
              <a:t>IBM Bob Screenshots:</a:t>
            </a:r>
            <a:endParaRPr sz="2400" b="1">
              <a:sym typeface="Times New Roman" panose="02020603050405020304"/>
            </a:endParaRPr>
          </a:p>
        </p:txBody>
      </p:sp>
      <p:pic>
        <p:nvPicPr>
          <p:cNvPr id="5" name="Picture 4">
            <a:extLst>
              <a:ext uri="{FF2B5EF4-FFF2-40B4-BE49-F238E27FC236}">
                <a16:creationId xmlns:a16="http://schemas.microsoft.com/office/drawing/2014/main" id="{ECBFC4AA-D84A-95F8-C2A2-AB61AB6979F2}"/>
              </a:ext>
            </a:extLst>
          </p:cNvPr>
          <p:cNvPicPr>
            <a:picLocks noChangeAspect="1"/>
          </p:cNvPicPr>
          <p:nvPr/>
        </p:nvPicPr>
        <p:blipFill>
          <a:blip r:embed="rId3"/>
          <a:stretch>
            <a:fillRect/>
          </a:stretch>
        </p:blipFill>
        <p:spPr>
          <a:xfrm>
            <a:off x="1337188" y="1081547"/>
            <a:ext cx="9026011" cy="505378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A8C9D54-E1FD-D7A1-5F5A-F380C17F7837}"/>
              </a:ext>
            </a:extLst>
          </p:cNvPr>
          <p:cNvPicPr>
            <a:picLocks noChangeAspect="1"/>
          </p:cNvPicPr>
          <p:nvPr/>
        </p:nvPicPr>
        <p:blipFill>
          <a:blip r:embed="rId2"/>
          <a:stretch>
            <a:fillRect/>
          </a:stretch>
        </p:blipFill>
        <p:spPr>
          <a:xfrm>
            <a:off x="889819" y="663216"/>
            <a:ext cx="10412361" cy="553156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panose="020F0502020204030204"/>
                <a:ea typeface="Calibri" panose="020F0502020204030204"/>
                <a:cs typeface="Calibri" panose="020F0502020204030204"/>
                <a:sym typeface="Calibri" panose="020F0502020204030204"/>
              </a:rPr>
              <a:t>Architecture blueprint for IBM bob:</a:t>
            </a:r>
            <a:endParaRPr lang="en-US" sz="2400" dirty="0"/>
          </a:p>
        </p:txBody>
      </p:sp>
      <p:pic>
        <p:nvPicPr>
          <p:cNvPr id="4" name="Picture 3">
            <a:extLst>
              <a:ext uri="{FF2B5EF4-FFF2-40B4-BE49-F238E27FC236}">
                <a16:creationId xmlns:a16="http://schemas.microsoft.com/office/drawing/2014/main" id="{D951759E-2472-D003-EF71-7E56515BD152}"/>
              </a:ext>
            </a:extLst>
          </p:cNvPr>
          <p:cNvPicPr>
            <a:picLocks noChangeAspect="1"/>
          </p:cNvPicPr>
          <p:nvPr/>
        </p:nvPicPr>
        <p:blipFill>
          <a:blip r:embed="rId3"/>
          <a:stretch>
            <a:fillRect/>
          </a:stretch>
        </p:blipFill>
        <p:spPr>
          <a:xfrm>
            <a:off x="666289" y="838811"/>
            <a:ext cx="10525125" cy="56959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srcRect/>
          <a:stretch>
            <a:fillRect/>
          </a:stretch>
        </p:blipFill>
        <p:spPr>
          <a:xfrm>
            <a:off x="8371985" y="1167493"/>
            <a:ext cx="3015343" cy="4523014"/>
          </a:xfrm>
          <a:prstGeom prst="rect">
            <a:avLst/>
          </a:prstGeom>
          <a:noFill/>
          <a:ln>
            <a:noFill/>
          </a:ln>
        </p:spPr>
      </p:pic>
      <p:sp>
        <p:nvSpPr>
          <p:cNvPr id="2" name="TextBox 1"/>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p:cNvSpPr txBox="1"/>
          <p:nvPr/>
        </p:nvSpPr>
        <p:spPr>
          <a:xfrm>
            <a:off x="621792" y="1167493"/>
            <a:ext cx="7406640" cy="5262979"/>
          </a:xfrm>
          <a:prstGeom prst="rect">
            <a:avLst/>
          </a:prstGeom>
          <a:noFill/>
        </p:spPr>
        <p:txBody>
          <a:bodyPr wrap="square" rtlCol="0">
            <a:spAutoFit/>
          </a:bodyPr>
          <a:lstStyle/>
          <a:p>
            <a:r>
              <a:rPr lang="en-IN" dirty="0"/>
              <a:t>Agentic AI enables the AI Research Agent to function as an intelligent, autonomous research assistant rather than a simple research-search chatbot. Using IBM watsonx.ai and IBM Granite models, it coordinates multiple specialized agents to support researchers throughout the research process.</a:t>
            </a:r>
          </a:p>
          <a:p>
            <a:endParaRPr lang="en-IN" dirty="0"/>
          </a:p>
          <a:p>
            <a:r>
              <a:rPr lang="en-IN" dirty="0"/>
              <a:t>Each agent performs a specific role—such as discovering relevant research papers, </a:t>
            </a:r>
            <a:r>
              <a:rPr lang="en-IN" dirty="0" err="1"/>
              <a:t>analyzing</a:t>
            </a:r>
            <a:r>
              <a:rPr lang="en-IN" dirty="0"/>
              <a:t> literature, identifying research gaps, recommending research methodologies, and assisting with research writing—while working collaboratively.</a:t>
            </a:r>
          </a:p>
          <a:p>
            <a:r>
              <a:rPr lang="en-IN" dirty="0"/>
              <a:t>This multi-agent approach ensures efficient research execution, deeper analysis, and relevant results.</a:t>
            </a:r>
          </a:p>
          <a:p>
            <a:endParaRPr lang="en-IN" dirty="0"/>
          </a:p>
          <a:p>
            <a:r>
              <a:rPr lang="en-IN" dirty="0"/>
              <a:t>Agentic AI also provides context awareness, understanding research details such as the topic, objectives, keywords, methodology, existing studies, and research requirements to generate tailored recommendations. It supports real-time adaptation, continuously refining results based on newly discovered papers, findings, and changes in the research direction.</a:t>
            </a:r>
          </a:p>
          <a:p>
            <a:r>
              <a:rPr lang="en-IN" dirty="0"/>
              <a:t>Additionally, the agents communicate and share information with each other, enabling better research decision-making. For example, the Research Discovery Agent can find relevant papers, while the Literature Analysis Agent summarizes their findings and the Research Gap Agent identifies unexplored areas. The Research Guidance Agent can then suggest suitable research directions based on these gaps.</a:t>
            </a:r>
          </a:p>
          <a:p>
            <a:endParaRPr lang="en-IN" dirty="0"/>
          </a:p>
          <a:p>
            <a:r>
              <a:rPr lang="en-IN" dirty="0"/>
              <a:t>Overall, Agentic AI makes the system proactive, intelligent, and research-focused, acting as a smart digital research assistant that helps researchers discover studies, </a:t>
            </a:r>
            <a:r>
              <a:rPr lang="en-IN" dirty="0" err="1"/>
              <a:t>analyze</a:t>
            </a:r>
            <a:r>
              <a:rPr lang="en-IN" dirty="0"/>
              <a:t> literature, identify research gaps, develop new ideas, and improve the overall research process.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000"/>
              </a:lnSpc>
              <a:buClr>
                <a:srgbClr val="051D3A"/>
              </a:buClr>
              <a:buSzPts val="3500"/>
            </a:pPr>
            <a:r>
              <a:rPr lang="en-US" sz="2400" b="1">
                <a:sym typeface="Times New Roman" panose="02020603050405020304"/>
              </a:rPr>
              <a:t>Token Usage </a:t>
            </a:r>
            <a:endParaRPr sz="2400" b="1">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 name="TextBox 4"/>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dirty="0"/>
              <a:t>9,149 token are used</a:t>
            </a:r>
          </a:p>
        </p:txBody>
      </p:sp>
      <p:sp>
        <p:nvSpPr>
          <p:cNvPr id="14" name="TextBox 13"/>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u="sng"/>
              <a:t>Before Prompt</a:t>
            </a:r>
          </a:p>
        </p:txBody>
      </p:sp>
      <p:sp>
        <p:nvSpPr>
          <p:cNvPr id="15" name="TextBox 14"/>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u="sng"/>
              <a:t>After the Prompt</a:t>
            </a:r>
          </a:p>
        </p:txBody>
      </p:sp>
      <p:pic>
        <p:nvPicPr>
          <p:cNvPr id="4" name="Picture 3">
            <a:extLst>
              <a:ext uri="{FF2B5EF4-FFF2-40B4-BE49-F238E27FC236}">
                <a16:creationId xmlns:a16="http://schemas.microsoft.com/office/drawing/2014/main" id="{51257382-4F78-65BD-9BF8-27310D8F4B69}"/>
              </a:ext>
            </a:extLst>
          </p:cNvPr>
          <p:cNvPicPr>
            <a:picLocks noChangeAspect="1"/>
          </p:cNvPicPr>
          <p:nvPr/>
        </p:nvPicPr>
        <p:blipFill>
          <a:blip r:embed="rId3"/>
          <a:stretch>
            <a:fillRect/>
          </a:stretch>
        </p:blipFill>
        <p:spPr>
          <a:xfrm>
            <a:off x="6096000" y="2310378"/>
            <a:ext cx="5659206" cy="2851133"/>
          </a:xfrm>
          <a:prstGeom prst="rect">
            <a:avLst/>
          </a:prstGeom>
        </p:spPr>
      </p:pic>
      <p:pic>
        <p:nvPicPr>
          <p:cNvPr id="8" name="Picture 7">
            <a:extLst>
              <a:ext uri="{FF2B5EF4-FFF2-40B4-BE49-F238E27FC236}">
                <a16:creationId xmlns:a16="http://schemas.microsoft.com/office/drawing/2014/main" id="{ED0B9D19-5E7C-B7EB-3E9A-B4D7873CE09B}"/>
              </a:ext>
            </a:extLst>
          </p:cNvPr>
          <p:cNvPicPr>
            <a:picLocks noChangeAspect="1"/>
          </p:cNvPicPr>
          <p:nvPr/>
        </p:nvPicPr>
        <p:blipFill>
          <a:blip r:embed="rId4"/>
          <a:stretch>
            <a:fillRect/>
          </a:stretch>
        </p:blipFill>
        <p:spPr>
          <a:xfrm>
            <a:off x="596695" y="2310378"/>
            <a:ext cx="5295900" cy="28384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000"/>
              </a:lnSpc>
              <a:buClr>
                <a:srgbClr val="051D3A"/>
              </a:buClr>
              <a:buSzPts val="3500"/>
            </a:pPr>
            <a:r>
              <a:rPr lang="en-US" sz="2400" b="1">
                <a:sym typeface="Times New Roman" panose="02020603050405020304"/>
              </a:rPr>
              <a:t> Project Output Screenshot</a:t>
            </a:r>
            <a:endParaRPr sz="2400" b="1">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3" name="Picture 2">
            <a:extLst>
              <a:ext uri="{FF2B5EF4-FFF2-40B4-BE49-F238E27FC236}">
                <a16:creationId xmlns:a16="http://schemas.microsoft.com/office/drawing/2014/main" id="{669D662B-EA09-A7D5-DAB8-768E61711FCB}"/>
              </a:ext>
            </a:extLst>
          </p:cNvPr>
          <p:cNvPicPr>
            <a:picLocks noChangeAspect="1"/>
          </p:cNvPicPr>
          <p:nvPr/>
        </p:nvPicPr>
        <p:blipFill>
          <a:blip r:embed="rId3"/>
          <a:stretch>
            <a:fillRect/>
          </a:stretch>
        </p:blipFill>
        <p:spPr>
          <a:xfrm>
            <a:off x="952500" y="1081548"/>
            <a:ext cx="10287000" cy="519143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000"/>
              </a:lnSpc>
              <a:buClr>
                <a:srgbClr val="051D3A"/>
              </a:buClr>
              <a:buSzPts val="3500"/>
            </a:pPr>
            <a:r>
              <a:rPr lang="en-US" sz="2400" b="1">
                <a:sym typeface="Times New Roman" panose="02020603050405020304"/>
              </a:rPr>
              <a:t> Project Output Screenshot</a:t>
            </a:r>
            <a:endParaRPr sz="2400" b="1">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3" name="Picture 2">
            <a:extLst>
              <a:ext uri="{FF2B5EF4-FFF2-40B4-BE49-F238E27FC236}">
                <a16:creationId xmlns:a16="http://schemas.microsoft.com/office/drawing/2014/main" id="{8DD8AB35-AED9-9951-C9BB-563BF29BD285}"/>
              </a:ext>
            </a:extLst>
          </p:cNvPr>
          <p:cNvPicPr>
            <a:picLocks noChangeAspect="1"/>
          </p:cNvPicPr>
          <p:nvPr/>
        </p:nvPicPr>
        <p:blipFill>
          <a:blip r:embed="rId3"/>
          <a:stretch>
            <a:fillRect/>
          </a:stretch>
        </p:blipFill>
        <p:spPr>
          <a:xfrm>
            <a:off x="1494502" y="1189703"/>
            <a:ext cx="9065343" cy="477847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000"/>
              </a:lnSpc>
              <a:buClr>
                <a:srgbClr val="051D3A"/>
              </a:buClr>
              <a:buSzPts val="3500"/>
            </a:pPr>
            <a:r>
              <a:rPr lang="en-US" sz="2400" b="1" dirty="0">
                <a:sym typeface="Times New Roman" panose="02020603050405020304"/>
              </a:rPr>
              <a:t> Project Output Screenshot</a:t>
            </a:r>
            <a:endParaRPr sz="2400" b="1" dirty="0">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3" name="Picture 2">
            <a:extLst>
              <a:ext uri="{FF2B5EF4-FFF2-40B4-BE49-F238E27FC236}">
                <a16:creationId xmlns:a16="http://schemas.microsoft.com/office/drawing/2014/main" id="{0CAB746C-E09A-2C83-EF17-808CB8547A45}"/>
              </a:ext>
            </a:extLst>
          </p:cNvPr>
          <p:cNvPicPr>
            <a:picLocks noChangeAspect="1"/>
          </p:cNvPicPr>
          <p:nvPr/>
        </p:nvPicPr>
        <p:blipFill>
          <a:blip r:embed="rId3"/>
          <a:stretch>
            <a:fillRect/>
          </a:stretch>
        </p:blipFill>
        <p:spPr>
          <a:xfrm>
            <a:off x="1474839" y="1148937"/>
            <a:ext cx="8563896" cy="466479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679775-2A1C-85F0-2DD8-129D18A7D7C8}"/>
              </a:ext>
            </a:extLst>
          </p:cNvPr>
          <p:cNvSpPr txBox="1"/>
          <p:nvPr/>
        </p:nvSpPr>
        <p:spPr>
          <a:xfrm>
            <a:off x="78658" y="94651"/>
            <a:ext cx="6096000" cy="597279"/>
          </a:xfrm>
          <a:prstGeom prst="rect">
            <a:avLst/>
          </a:prstGeom>
          <a:noFill/>
        </p:spPr>
        <p:txBody>
          <a:bodyPr wrap="square">
            <a:spAutoFit/>
          </a:bodyPr>
          <a:lstStyle/>
          <a:p>
            <a:pPr>
              <a:lnSpc>
                <a:spcPct val="157000"/>
              </a:lnSpc>
              <a:buClr>
                <a:srgbClr val="051D3A"/>
              </a:buClr>
              <a:buSzPts val="3500"/>
            </a:pPr>
            <a:r>
              <a:rPr lang="en-US" sz="2400" b="1" dirty="0">
                <a:sym typeface="Times New Roman" panose="02020603050405020304"/>
              </a:rPr>
              <a:t> Project Output Screenshot</a:t>
            </a:r>
          </a:p>
        </p:txBody>
      </p:sp>
      <p:pic>
        <p:nvPicPr>
          <p:cNvPr id="5" name="Picture 4">
            <a:extLst>
              <a:ext uri="{FF2B5EF4-FFF2-40B4-BE49-F238E27FC236}">
                <a16:creationId xmlns:a16="http://schemas.microsoft.com/office/drawing/2014/main" id="{8B2F4704-8DAA-C619-7BDA-1DFBDC51FB1F}"/>
              </a:ext>
            </a:extLst>
          </p:cNvPr>
          <p:cNvPicPr>
            <a:picLocks noChangeAspect="1"/>
          </p:cNvPicPr>
          <p:nvPr/>
        </p:nvPicPr>
        <p:blipFill>
          <a:blip r:embed="rId2"/>
          <a:stretch>
            <a:fillRect/>
          </a:stretch>
        </p:blipFill>
        <p:spPr>
          <a:xfrm>
            <a:off x="967571" y="816977"/>
            <a:ext cx="9854504" cy="5702440"/>
          </a:xfrm>
          <a:prstGeom prst="rect">
            <a:avLst/>
          </a:prstGeom>
        </p:spPr>
      </p:pic>
    </p:spTree>
    <p:extLst>
      <p:ext uri="{BB962C8B-B14F-4D97-AF65-F5344CB8AC3E}">
        <p14:creationId xmlns:p14="http://schemas.microsoft.com/office/powerpoint/2010/main" val="16719558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7AAAE8C-ED5E-2FB4-04E9-0E811D7088F7}"/>
              </a:ext>
            </a:extLst>
          </p:cNvPr>
          <p:cNvSpPr txBox="1"/>
          <p:nvPr/>
        </p:nvSpPr>
        <p:spPr>
          <a:xfrm>
            <a:off x="78658" y="0"/>
            <a:ext cx="6096000" cy="597279"/>
          </a:xfrm>
          <a:prstGeom prst="rect">
            <a:avLst/>
          </a:prstGeom>
          <a:noFill/>
        </p:spPr>
        <p:txBody>
          <a:bodyPr wrap="square">
            <a:spAutoFit/>
          </a:bodyPr>
          <a:lstStyle/>
          <a:p>
            <a:pPr>
              <a:lnSpc>
                <a:spcPct val="157000"/>
              </a:lnSpc>
              <a:buClr>
                <a:srgbClr val="051D3A"/>
              </a:buClr>
              <a:buSzPts val="3500"/>
            </a:pPr>
            <a:r>
              <a:rPr lang="en-US" sz="2400" b="1" dirty="0">
                <a:sym typeface="Times New Roman" panose="02020603050405020304"/>
              </a:rPr>
              <a:t> Project Output Screenshot</a:t>
            </a:r>
          </a:p>
        </p:txBody>
      </p:sp>
      <p:pic>
        <p:nvPicPr>
          <p:cNvPr id="7" name="Picture 6">
            <a:extLst>
              <a:ext uri="{FF2B5EF4-FFF2-40B4-BE49-F238E27FC236}">
                <a16:creationId xmlns:a16="http://schemas.microsoft.com/office/drawing/2014/main" id="{72877EBB-7687-AE46-9B81-0B44D4FE5C86}"/>
              </a:ext>
            </a:extLst>
          </p:cNvPr>
          <p:cNvPicPr>
            <a:picLocks noChangeAspect="1"/>
          </p:cNvPicPr>
          <p:nvPr/>
        </p:nvPicPr>
        <p:blipFill>
          <a:blip r:embed="rId2"/>
          <a:stretch>
            <a:fillRect/>
          </a:stretch>
        </p:blipFill>
        <p:spPr>
          <a:xfrm>
            <a:off x="1297382" y="816977"/>
            <a:ext cx="9174726" cy="5383050"/>
          </a:xfrm>
          <a:prstGeom prst="rect">
            <a:avLst/>
          </a:prstGeom>
        </p:spPr>
      </p:pic>
    </p:spTree>
    <p:extLst>
      <p:ext uri="{BB962C8B-B14F-4D97-AF65-F5344CB8AC3E}">
        <p14:creationId xmlns:p14="http://schemas.microsoft.com/office/powerpoint/2010/main" val="30355624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F5B306E-7622-E0F1-593F-E1E4245D8671}"/>
              </a:ext>
            </a:extLst>
          </p:cNvPr>
          <p:cNvSpPr txBox="1"/>
          <p:nvPr/>
        </p:nvSpPr>
        <p:spPr>
          <a:xfrm>
            <a:off x="117987" y="173309"/>
            <a:ext cx="6096000" cy="597279"/>
          </a:xfrm>
          <a:prstGeom prst="rect">
            <a:avLst/>
          </a:prstGeom>
          <a:noFill/>
        </p:spPr>
        <p:txBody>
          <a:bodyPr wrap="square">
            <a:spAutoFit/>
          </a:bodyPr>
          <a:lstStyle/>
          <a:p>
            <a:pPr>
              <a:lnSpc>
                <a:spcPct val="157000"/>
              </a:lnSpc>
              <a:buClr>
                <a:srgbClr val="051D3A"/>
              </a:buClr>
              <a:buSzPts val="3500"/>
            </a:pPr>
            <a:r>
              <a:rPr lang="en-US" sz="2400" b="1" dirty="0">
                <a:sym typeface="Times New Roman" panose="02020603050405020304"/>
              </a:rPr>
              <a:t> Project Output Screenshot</a:t>
            </a:r>
          </a:p>
        </p:txBody>
      </p:sp>
      <p:pic>
        <p:nvPicPr>
          <p:cNvPr id="5" name="Picture 4">
            <a:extLst>
              <a:ext uri="{FF2B5EF4-FFF2-40B4-BE49-F238E27FC236}">
                <a16:creationId xmlns:a16="http://schemas.microsoft.com/office/drawing/2014/main" id="{42C11302-7F89-5BA2-2269-51ADB6A553DD}"/>
              </a:ext>
            </a:extLst>
          </p:cNvPr>
          <p:cNvPicPr>
            <a:picLocks noChangeAspect="1"/>
          </p:cNvPicPr>
          <p:nvPr/>
        </p:nvPicPr>
        <p:blipFill>
          <a:blip r:embed="rId2"/>
          <a:stretch>
            <a:fillRect/>
          </a:stretch>
        </p:blipFill>
        <p:spPr>
          <a:xfrm>
            <a:off x="1386348" y="1012723"/>
            <a:ext cx="8738758" cy="5026741"/>
          </a:xfrm>
          <a:prstGeom prst="rect">
            <a:avLst/>
          </a:prstGeom>
        </p:spPr>
      </p:pic>
    </p:spTree>
    <p:extLst>
      <p:ext uri="{BB962C8B-B14F-4D97-AF65-F5344CB8AC3E}">
        <p14:creationId xmlns:p14="http://schemas.microsoft.com/office/powerpoint/2010/main" val="25152848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33E81E1-EE6C-02FE-31D6-B8D3FC86F855}"/>
              </a:ext>
            </a:extLst>
          </p:cNvPr>
          <p:cNvSpPr txBox="1"/>
          <p:nvPr/>
        </p:nvSpPr>
        <p:spPr>
          <a:xfrm>
            <a:off x="147484" y="163477"/>
            <a:ext cx="6096000" cy="597279"/>
          </a:xfrm>
          <a:prstGeom prst="rect">
            <a:avLst/>
          </a:prstGeom>
          <a:noFill/>
        </p:spPr>
        <p:txBody>
          <a:bodyPr wrap="square">
            <a:spAutoFit/>
          </a:bodyPr>
          <a:lstStyle/>
          <a:p>
            <a:pPr>
              <a:lnSpc>
                <a:spcPct val="157000"/>
              </a:lnSpc>
              <a:buClr>
                <a:srgbClr val="051D3A"/>
              </a:buClr>
              <a:buSzPts val="3500"/>
            </a:pPr>
            <a:r>
              <a:rPr lang="en-US" sz="2400" b="1" dirty="0">
                <a:sym typeface="Times New Roman" panose="02020603050405020304"/>
              </a:rPr>
              <a:t> Project Output Screenshot</a:t>
            </a:r>
          </a:p>
        </p:txBody>
      </p:sp>
      <p:pic>
        <p:nvPicPr>
          <p:cNvPr id="5" name="Picture 4">
            <a:extLst>
              <a:ext uri="{FF2B5EF4-FFF2-40B4-BE49-F238E27FC236}">
                <a16:creationId xmlns:a16="http://schemas.microsoft.com/office/drawing/2014/main" id="{FA203736-2B88-A900-6835-4C0D08BD6849}"/>
              </a:ext>
            </a:extLst>
          </p:cNvPr>
          <p:cNvPicPr>
            <a:picLocks noChangeAspect="1"/>
          </p:cNvPicPr>
          <p:nvPr/>
        </p:nvPicPr>
        <p:blipFill>
          <a:blip r:embed="rId2"/>
          <a:stretch>
            <a:fillRect/>
          </a:stretch>
        </p:blipFill>
        <p:spPr>
          <a:xfrm>
            <a:off x="1199535" y="953729"/>
            <a:ext cx="9243551" cy="5596194"/>
          </a:xfrm>
          <a:prstGeom prst="rect">
            <a:avLst/>
          </a:prstGeom>
        </p:spPr>
      </p:pic>
    </p:spTree>
    <p:extLst>
      <p:ext uri="{BB962C8B-B14F-4D97-AF65-F5344CB8AC3E}">
        <p14:creationId xmlns:p14="http://schemas.microsoft.com/office/powerpoint/2010/main" val="37793204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TextBox 1"/>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p:cNvSpPr txBox="1"/>
          <p:nvPr/>
        </p:nvSpPr>
        <p:spPr>
          <a:xfrm>
            <a:off x="777240" y="1207008"/>
            <a:ext cx="11301984" cy="677108"/>
          </a:xfrm>
          <a:prstGeom prst="rect">
            <a:avLst/>
          </a:prstGeom>
          <a:noFill/>
        </p:spPr>
        <p:txBody>
          <a:bodyPr wrap="square" rtlCol="0">
            <a:spAutoFit/>
          </a:bodyPr>
          <a:lstStyle/>
          <a:p>
            <a:pPr>
              <a:lnSpc>
                <a:spcPct val="150000"/>
              </a:lnSpc>
            </a:pPr>
            <a:endParaRPr lang="en-IN" sz="1600" dirty="0"/>
          </a:p>
          <a:p>
            <a:endParaRPr lang="en-IN" dirty="0"/>
          </a:p>
        </p:txBody>
      </p:sp>
      <p:sp>
        <p:nvSpPr>
          <p:cNvPr id="5" name="TextBox 4">
            <a:extLst>
              <a:ext uri="{FF2B5EF4-FFF2-40B4-BE49-F238E27FC236}">
                <a16:creationId xmlns:a16="http://schemas.microsoft.com/office/drawing/2014/main" id="{4C472795-0E13-9A18-95C4-0ABE0087C2CC}"/>
              </a:ext>
            </a:extLst>
          </p:cNvPr>
          <p:cNvSpPr txBox="1"/>
          <p:nvPr/>
        </p:nvSpPr>
        <p:spPr>
          <a:xfrm>
            <a:off x="777240" y="1207008"/>
            <a:ext cx="9556955" cy="4708981"/>
          </a:xfrm>
          <a:prstGeom prst="rect">
            <a:avLst/>
          </a:prstGeom>
          <a:noFill/>
        </p:spPr>
        <p:txBody>
          <a:bodyPr wrap="square">
            <a:spAutoFit/>
          </a:bodyPr>
          <a:lstStyle/>
          <a:p>
            <a:pPr>
              <a:lnSpc>
                <a:spcPct val="150000"/>
              </a:lnSpc>
            </a:pPr>
            <a:r>
              <a:rPr lang="en-IN" sz="1200" b="1" dirty="0"/>
              <a:t>Key Features of the AI Research Agent</a:t>
            </a:r>
          </a:p>
          <a:p>
            <a:pPr lvl="0">
              <a:lnSpc>
                <a:spcPct val="150000"/>
              </a:lnSpc>
            </a:pPr>
            <a:endParaRPr lang="en-IN" sz="1200" b="1" dirty="0"/>
          </a:p>
          <a:p>
            <a:pPr lvl="0">
              <a:lnSpc>
                <a:spcPct val="150000"/>
              </a:lnSpc>
            </a:pPr>
            <a:r>
              <a:rPr lang="en-IN" sz="1200" b="1" dirty="0"/>
              <a:t>Multi-Agent Intelligence</a:t>
            </a:r>
            <a:r>
              <a:rPr lang="en-IN" sz="1200" dirty="0"/>
              <a:t> – Multiple specialized agents collaborate for information gathering, analysis, fact-checking, summarization, and report generation.</a:t>
            </a:r>
          </a:p>
          <a:p>
            <a:pPr lvl="0">
              <a:lnSpc>
                <a:spcPct val="150000"/>
              </a:lnSpc>
            </a:pPr>
            <a:r>
              <a:rPr lang="en-IN" sz="1200" b="1" dirty="0"/>
              <a:t>RAG-Based Accuracy</a:t>
            </a:r>
            <a:r>
              <a:rPr lang="en-IN" sz="1200" dirty="0"/>
              <a:t> – Retrieves relevant and updated information from trusted research papers, documents, and knowledge sources to provide reliable answers.</a:t>
            </a:r>
          </a:p>
          <a:p>
            <a:pPr lvl="0">
              <a:lnSpc>
                <a:spcPct val="150000"/>
              </a:lnSpc>
            </a:pPr>
            <a:r>
              <a:rPr lang="en-IN" sz="1200" b="1" dirty="0"/>
              <a:t>Personalized Research</a:t>
            </a:r>
            <a:r>
              <a:rPr lang="en-IN" sz="1200" dirty="0"/>
              <a:t> – Adapts research results based on the user’s topic, interests, research goals, and preferred level of detail.</a:t>
            </a:r>
          </a:p>
          <a:p>
            <a:pPr lvl="0">
              <a:lnSpc>
                <a:spcPct val="150000"/>
              </a:lnSpc>
            </a:pPr>
            <a:r>
              <a:rPr lang="en-IN" sz="1200" b="1" dirty="0"/>
              <a:t>Real-Time Adaptation</a:t>
            </a:r>
            <a:r>
              <a:rPr lang="en-IN" sz="1200" dirty="0"/>
              <a:t> – Continuously updates the research process based on user feedback, new information, and changing research requirements.</a:t>
            </a:r>
          </a:p>
          <a:p>
            <a:pPr lvl="0">
              <a:lnSpc>
                <a:spcPct val="150000"/>
              </a:lnSpc>
            </a:pPr>
            <a:r>
              <a:rPr lang="en-IN" sz="1200" b="1" dirty="0"/>
              <a:t>Research Gap Analysis</a:t>
            </a:r>
            <a:r>
              <a:rPr lang="en-IN" sz="1200" dirty="0"/>
              <a:t> – Identifies missing information, research gaps, trends, and unexplored areas related to the selected topic.</a:t>
            </a:r>
          </a:p>
          <a:p>
            <a:pPr lvl="0">
              <a:lnSpc>
                <a:spcPct val="150000"/>
              </a:lnSpc>
            </a:pPr>
            <a:r>
              <a:rPr lang="en-IN" sz="1200" b="1" dirty="0"/>
              <a:t>Multi-Modal Support</a:t>
            </a:r>
            <a:r>
              <a:rPr lang="en-IN" sz="1200" dirty="0"/>
              <a:t> – Supports text, documents, images, and other research inputs for better information analysis.</a:t>
            </a:r>
          </a:p>
          <a:p>
            <a:pPr lvl="0">
              <a:lnSpc>
                <a:spcPct val="150000"/>
              </a:lnSpc>
            </a:pPr>
            <a:r>
              <a:rPr lang="en-IN" sz="1200" b="1" dirty="0"/>
              <a:t>Automated Report Generation</a:t>
            </a:r>
            <a:r>
              <a:rPr lang="en-IN" sz="1200" dirty="0"/>
              <a:t> – Converts collected information into structured summaries, comparisons, findings, and research reports.</a:t>
            </a:r>
          </a:p>
          <a:p>
            <a:pPr lvl="0">
              <a:lnSpc>
                <a:spcPct val="150000"/>
              </a:lnSpc>
            </a:pPr>
            <a:r>
              <a:rPr lang="en-IN" sz="1200" b="1" dirty="0"/>
              <a:t>IBM Technology</a:t>
            </a:r>
            <a:r>
              <a:rPr lang="en-IN" sz="1200" dirty="0"/>
              <a:t> – Uses </a:t>
            </a:r>
            <a:r>
              <a:rPr lang="en-IN" sz="1200" b="1" dirty="0"/>
              <a:t>IBM watsonx.ai and IBM Granite models</a:t>
            </a:r>
            <a:r>
              <a:rPr lang="en-IN" sz="1200" dirty="0"/>
              <a:t> to provide reliable, governed, and intelligent AI-powered research.</a:t>
            </a:r>
          </a:p>
          <a:p>
            <a:pPr>
              <a:lnSpc>
                <a:spcPct val="150000"/>
              </a:lnSpc>
            </a:pPr>
            <a:r>
              <a:rPr lang="en-IN" sz="1200" b="1" dirty="0"/>
              <a:t>Overall, the system acts as a smart, autonomous, and personalized research assistant that helps users discover, </a:t>
            </a:r>
            <a:r>
              <a:rPr lang="en-IN" sz="1200" b="1" dirty="0" err="1"/>
              <a:t>analyze</a:t>
            </a:r>
            <a:r>
              <a:rPr lang="en-IN" sz="1200" b="1" dirty="0"/>
              <a:t>, validate, and organize information efficiently.</a:t>
            </a:r>
            <a:endParaRPr lang="en-IN" sz="1200" dirty="0"/>
          </a:p>
          <a:p>
            <a:pPr>
              <a:lnSpc>
                <a:spcPct val="150000"/>
              </a:lnSpc>
            </a:pPr>
            <a:r>
              <a:rPr lang="en-IN" sz="1200" dirty="0"/>
              <a:t>The proposed </a:t>
            </a:r>
            <a:r>
              <a:rPr lang="en-IN" sz="1200" b="1" dirty="0"/>
              <a:t>AI Research Agent</a:t>
            </a:r>
            <a:r>
              <a:rPr lang="en-IN" sz="1200" dirty="0"/>
              <a:t> combines </a:t>
            </a:r>
            <a:r>
              <a:rPr lang="en-IN" sz="1200" b="1" dirty="0"/>
              <a:t>Agentic AI, RAG, and personalization</a:t>
            </a:r>
            <a:r>
              <a:rPr lang="en-IN" sz="1200" dirty="0"/>
              <a:t> to provide intelligent and efficient research support.</a:t>
            </a:r>
          </a:p>
          <a:p>
            <a:endParaRPr lang="en-IN"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603050405020304"/>
              <a:buNone/>
            </a:pPr>
            <a:r>
              <a:rPr lang="en-US" sz="2400" b="1">
                <a:sym typeface="Times New Roman" panose="02020603050405020304"/>
              </a:rPr>
              <a:t>Git Hub Link</a:t>
            </a:r>
            <a:endParaRPr sz="2400" b="1">
              <a:sym typeface="Times New Roman" panose="02020603050405020304"/>
            </a:endParaRPr>
          </a:p>
        </p:txBody>
      </p:sp>
      <p:sp>
        <p:nvSpPr>
          <p:cNvPr id="279" name="Google Shape;279;p18"/>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 Please create public </a:t>
            </a:r>
            <a:r>
              <a:rPr lang="en-US" sz="1850" b="0" i="0" u="none" strike="noStrike" cap="none" dirty="0" err="1">
                <a:solidFill>
                  <a:srgbClr val="2B3541"/>
                </a:solidFill>
                <a:latin typeface="Times New Roman" panose="02020603050405020304"/>
                <a:ea typeface="Times New Roman" panose="02020603050405020304"/>
                <a:cs typeface="Times New Roman" panose="02020603050405020304"/>
                <a:sym typeface="Times New Roman" panose="02020603050405020304"/>
              </a:rPr>
              <a:t>github</a:t>
            </a:r>
            <a:r>
              <a:rPr lang="en-US" sz="1850" b="0"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 repository (Enable Add README  button while creating repository) with format – </a:t>
            </a:r>
          </a:p>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Please test and Paste the working  </a:t>
            </a:r>
            <a:r>
              <a:rPr lang="en-US" sz="1850" dirty="0" err="1">
                <a:solidFill>
                  <a:srgbClr val="2B3541"/>
                </a:solidFill>
                <a:latin typeface="Times New Roman" panose="02020603050405020304"/>
                <a:ea typeface="Times New Roman" panose="02020603050405020304"/>
                <a:cs typeface="Times New Roman" panose="02020603050405020304"/>
                <a:sym typeface="Times New Roman" panose="02020603050405020304"/>
              </a:rPr>
              <a:t>Github</a:t>
            </a:r>
            <a:r>
              <a:rPr lang="en-US" sz="1850"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 URL –</a:t>
            </a:r>
          </a:p>
          <a:p>
            <a:pPr lvl="0">
              <a:lnSpc>
                <a:spcPct val="162000"/>
              </a:lnSpc>
              <a:buClr>
                <a:srgbClr val="2B3541"/>
              </a:buClr>
              <a:buSzPts val="1850"/>
            </a:pPr>
            <a:r>
              <a:rPr lang="en-US" altLang="en-US" dirty="0">
                <a:sym typeface="Times New Roman" panose="02020603050405020304"/>
                <a:hlinkClick r:id="rId3"/>
              </a:rPr>
              <a:t>https://github.com/smmohan07/my-ibm-bob-project.git</a:t>
            </a:r>
            <a:endParaRPr lang="en-US" altLang="en-US" dirty="0">
              <a:sym typeface="Times New Roman" panose="02020603050405020304"/>
            </a:endParaRPr>
          </a:p>
          <a:p>
            <a:pPr lvl="0">
              <a:lnSpc>
                <a:spcPct val="162000"/>
              </a:lnSpc>
              <a:buClr>
                <a:srgbClr val="2B3541"/>
              </a:buClr>
              <a:buSzPts val="1850"/>
            </a:pPr>
            <a:r>
              <a:rPr lang="en-US" sz="1850"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1) All Agent relevant files of IBM Cloud , 2) yourproblemstatement.pdf file  3) your projectpresntation.pptx file 4)any other files </a:t>
            </a:r>
          </a:p>
          <a:p>
            <a:pPr marL="0" marR="0" lvl="0" indent="0" algn="l" rtl="0">
              <a:lnSpc>
                <a:spcPct val="162000"/>
              </a:lnSpc>
              <a:spcBef>
                <a:spcPts val="0"/>
              </a:spcBef>
              <a:spcAft>
                <a:spcPts val="0"/>
              </a:spcAft>
              <a:buClr>
                <a:srgbClr val="2B3541"/>
              </a:buClr>
              <a:buSzPts val="1850"/>
              <a:buFont typeface="Times New Roman" panose="02020603050405020304"/>
              <a:buNone/>
            </a:pP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603050405020304"/>
              <a:buNone/>
            </a:pPr>
            <a:r>
              <a:rPr lang="en-US" sz="2400" b="1">
                <a:sym typeface="Times New Roman" panose="02020603050405020304"/>
              </a:rPr>
              <a:t>Future Scope </a:t>
            </a:r>
            <a:endParaRPr sz="2400" b="1">
              <a:sym typeface="Times New Roman" panose="02020603050405020304"/>
            </a:endParaRPr>
          </a:p>
        </p:txBody>
      </p:sp>
      <p:sp>
        <p:nvSpPr>
          <p:cNvPr id="279" name="Google Shape;279;p18"/>
          <p:cNvSpPr/>
          <p:nvPr/>
        </p:nvSpPr>
        <p:spPr>
          <a:xfrm>
            <a:off x="1218724" y="1044263"/>
            <a:ext cx="9214580" cy="4277001"/>
          </a:xfrm>
          <a:prstGeom prst="rect">
            <a:avLst/>
          </a:prstGeom>
          <a:noFill/>
          <a:ln>
            <a:noFill/>
          </a:ln>
        </p:spPr>
        <p:txBody>
          <a:bodyPr spcFirstLastPara="1" wrap="square" lIns="0" tIns="0" rIns="0" bIns="0" anchor="t" anchorCtr="0">
            <a:noAutofit/>
          </a:bodyPr>
          <a:lstStyle/>
          <a:p>
            <a:pPr>
              <a:lnSpc>
                <a:spcPct val="150000"/>
              </a:lnSpc>
            </a:pPr>
            <a:r>
              <a:rPr lang="en-IN" sz="1200" dirty="0"/>
              <a:t>For your </a:t>
            </a:r>
            <a:r>
              <a:rPr lang="en-IN" sz="1200" b="1" dirty="0"/>
              <a:t>Research Agent</a:t>
            </a:r>
            <a:r>
              <a:rPr lang="en-IN" sz="1200" dirty="0"/>
              <a:t> project, you can use the same format like this:</a:t>
            </a:r>
          </a:p>
          <a:p>
            <a:pPr>
              <a:lnSpc>
                <a:spcPct val="150000"/>
              </a:lnSpc>
            </a:pPr>
            <a:r>
              <a:rPr lang="en-IN" sz="1200" b="1" dirty="0"/>
              <a:t>1. Integration with Academic &amp; Online Research Platforms –</a:t>
            </a:r>
            <a:br>
              <a:rPr lang="en-IN" sz="1200" dirty="0"/>
            </a:br>
            <a:r>
              <a:rPr lang="en-IN" sz="1200" dirty="0"/>
              <a:t>The system can be integrated with academic databases, research repositories, and online information sources to access updated research papers, articles, and relevant information, helping users obtain more accurate and reliable research results.</a:t>
            </a:r>
          </a:p>
          <a:p>
            <a:pPr>
              <a:lnSpc>
                <a:spcPct val="150000"/>
              </a:lnSpc>
            </a:pPr>
            <a:r>
              <a:rPr lang="en-IN" sz="1200" b="1" dirty="0"/>
              <a:t>2. AI-Powered Voice Assistant &amp; Multilingual Support –</a:t>
            </a:r>
            <a:br>
              <a:rPr lang="en-IN" sz="1200" dirty="0"/>
            </a:br>
            <a:r>
              <a:rPr lang="en-IN" sz="1200" dirty="0"/>
              <a:t>Adding voice-based interaction and support for multiple languages can make the Research Agent easier to use for students, researchers, and users who prefer speaking instead of typing, improving accessibility and usability.</a:t>
            </a:r>
          </a:p>
          <a:p>
            <a:pPr>
              <a:lnSpc>
                <a:spcPct val="150000"/>
              </a:lnSpc>
            </a:pPr>
            <a:r>
              <a:rPr lang="en-IN" sz="1200" b="1" dirty="0"/>
              <a:t>3. Smart Research &amp; Knowledge Tracking –</a:t>
            </a:r>
            <a:br>
              <a:rPr lang="en-IN" sz="1200" dirty="0"/>
            </a:br>
            <a:r>
              <a:rPr lang="en-IN" sz="1200" dirty="0"/>
              <a:t>The system can continuously track users' research topics, saved sources, notes, and previous research activities to provide personalized recommendations, relevant information, and improved research assistance.</a:t>
            </a:r>
          </a:p>
          <a:p>
            <a:pPr>
              <a:lnSpc>
                <a:spcPct val="150000"/>
              </a:lnSpc>
            </a:pPr>
            <a:r>
              <a:rPr lang="en-IN" sz="1200" b="1" dirty="0"/>
              <a:t>4. Automated Citation &amp; Reference Management –</a:t>
            </a:r>
            <a:br>
              <a:rPr lang="en-IN" sz="1200" dirty="0"/>
            </a:br>
            <a:r>
              <a:rPr lang="en-IN" sz="1200" dirty="0"/>
              <a:t>Future versions can automatically identify sources and generate citations and references in formats such as APA, MLA, and IEEE, reducing the effort required to prepare properly formatted research reports.</a:t>
            </a:r>
          </a:p>
          <a:p>
            <a:pPr>
              <a:lnSpc>
                <a:spcPct val="150000"/>
              </a:lnSpc>
            </a:pPr>
            <a:r>
              <a:rPr lang="en-IN" sz="1200" b="1" dirty="0"/>
              <a:t>5. AI-Based Research Report Generation –</a:t>
            </a:r>
            <a:br>
              <a:rPr lang="en-IN" sz="1200" dirty="0"/>
            </a:br>
            <a:r>
              <a:rPr lang="en-IN" sz="1200" dirty="0"/>
              <a:t>The system can generate structured research reports by combining information from multiple sources, including summaries, key findings, comparisons, and conclusions, helping users complete research tasks more efficiently.</a:t>
            </a:r>
          </a:p>
          <a:p>
            <a:pPr>
              <a:lnSpc>
                <a:spcPct val="150000"/>
              </a:lnSpc>
            </a:pPr>
            <a:r>
              <a:rPr lang="en-IN" sz="1200" b="1" dirty="0"/>
              <a:t>6. Personalized Research Recommendations –</a:t>
            </a:r>
            <a:br>
              <a:rPr lang="en-IN" sz="1200" dirty="0"/>
            </a:br>
            <a:r>
              <a:rPr lang="en-IN" sz="1200" dirty="0"/>
              <a:t>The system can </a:t>
            </a:r>
            <a:r>
              <a:rPr lang="en-IN" sz="1200" dirty="0" err="1"/>
              <a:t>analyze</a:t>
            </a:r>
            <a:r>
              <a:rPr lang="en-IN" sz="1200" dirty="0"/>
              <a:t> a user's research interests and previous activities to recommend relevant papers, articles, topics, and related research areas, enabling users to discover useful information more easily.</a:t>
            </a: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a:t>Certificates Earned:</a:t>
            </a:r>
          </a:p>
          <a:p>
            <a:pPr algn="ctr"/>
            <a:endParaRPr lang="en-US"/>
          </a:p>
        </p:txBody>
      </p:sp>
      <p:pic>
        <p:nvPicPr>
          <p:cNvPr id="2" name="Picture 1"/>
          <p:cNvPicPr>
            <a:picLocks noChangeAspect="1"/>
          </p:cNvPicPr>
          <p:nvPr/>
        </p:nvPicPr>
        <p:blipFill>
          <a:blip r:embed="rId2"/>
          <a:stretch>
            <a:fillRect/>
          </a:stretch>
        </p:blipFill>
        <p:spPr>
          <a:xfrm>
            <a:off x="2222090" y="973394"/>
            <a:ext cx="7246375" cy="507344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i="0" u="none" strike="noStrike" baseline="0">
                <a:solidFill>
                  <a:srgbClr val="000000"/>
                </a:solidFill>
                <a:latin typeface="Arial" panose="020B0604020202020204"/>
              </a:rPr>
              <a:t>Certificates Earned:</a:t>
            </a:r>
            <a:r>
              <a:rPr sz="2400" b="0" i="0">
                <a:solidFill>
                  <a:srgbClr val="000000"/>
                </a:solidFill>
                <a:latin typeface="Arial" panose="020B0604020202020204"/>
                <a:ea typeface="Arial" panose="020B0604020202020204"/>
                <a:cs typeface="Arial" panose="020B0604020202020204"/>
              </a:rPr>
              <a:t>​</a:t>
            </a:r>
            <a:endParaRPr lang="en-US"/>
          </a:p>
          <a:p>
            <a:pPr algn="ctr"/>
            <a:endParaRPr lang="en-US"/>
          </a:p>
        </p:txBody>
      </p:sp>
      <p:pic>
        <p:nvPicPr>
          <p:cNvPr id="2" name="Picture 1"/>
          <p:cNvPicPr>
            <a:picLocks noChangeAspect="1"/>
          </p:cNvPicPr>
          <p:nvPr/>
        </p:nvPicPr>
        <p:blipFill>
          <a:blip r:embed="rId2"/>
          <a:stretch>
            <a:fillRect/>
          </a:stretch>
        </p:blipFill>
        <p:spPr>
          <a:xfrm>
            <a:off x="1907540" y="1304925"/>
            <a:ext cx="8039100" cy="496824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srcRect/>
          <a:stretch>
            <a:fill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TotalTime>
  <Words>1494</Words>
  <Application>Microsoft Office PowerPoint</Application>
  <PresentationFormat>Widescreen</PresentationFormat>
  <Paragraphs>131</Paragraphs>
  <Slides>24</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JOSHNA K</cp:lastModifiedBy>
  <cp:revision>7</cp:revision>
  <dcterms:created xsi:type="dcterms:W3CDTF">2025-07-08T05:06:00Z</dcterms:created>
  <dcterms:modified xsi:type="dcterms:W3CDTF">2026-09-10T15:10:34Z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9913C97103314D2DBD0E6F46B0C3148B_13</vt:lpwstr>
  </property>
</Properties>
</file>